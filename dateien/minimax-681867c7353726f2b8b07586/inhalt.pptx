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essen/-/blob/62bc66bbbc5aa17de4f4b7509b8c292979c61135/_posts/2026-10-24-fachwerksanierung-bestandsaufnahme-massnahmenplanung.md" TargetMode="External"/><Relationship Id="rId3" Type="http://schemas.openxmlformats.org/officeDocument/2006/relationships/hyperlink" Target="https://holzundhaus.github.io/1aholzbauessen/dateien/minimax-681867c7353726f2b8b0758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vor der Fachwerksanierung: Schritt für Schritt dokumentieren · Erklärende Präsentation</a:t>
            </a:r>
          </a:p>
        </p:txBody>
      </p:sp>
      <p:sp>
        <p:nvSpPr>
          <p:cNvPr id="3" name="Content Placeholder 2"/>
          <p:cNvSpPr>
            <a:spLocks noGrp="1"/>
          </p:cNvSpPr>
          <p:nvPr>
            <p:ph idx="1"/>
          </p:nvPr>
        </p:nvSpPr>
        <p:spPr/>
        <p:txBody>
          <a:bodyPr/>
          <a:lstStyle/>
          <a:p>
            <a:r>
              <a:t>Überblick: Vor der eigentlichen Sanierung eines Fachwerkhauses braucht es eine nachvollziehbare Bestandsaufnahme. Sie klärt, welche Hölzer erhalten, repariert oder ausgetauscht werden sollten und welche Ursachen hinter sichtbaren Schäden stecken. Der folgende Leitfaden verbindet die Grundlagen der Holzfassaden- und Fachwerksanierung mit einem praktischen Ablauf für die Dokumentation vor 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Vorbereitung schaffen einen belastbaren Start</a:t>
            </a:r>
          </a:p>
        </p:txBody>
      </p:sp>
      <p:sp>
        <p:nvSpPr>
          <p:cNvPr id="3" name="Content Placeholder 2"/>
          <p:cNvSpPr>
            <a:spLocks noGrp="1"/>
          </p:cNvSpPr>
          <p:nvPr>
            <p:ph idx="1"/>
          </p:nvPr>
        </p:nvSpPr>
        <p:spPr/>
        <p:txBody>
          <a:bodyPr/>
          <a:lstStyle/>
          <a:p>
            <a:pPr>
              <a:defRPr sz="1800"/>
            </a:pPr>
            <a:r>
              <a:t>Bevor das Gebäude begutachtet wird, sollten vorhandene Baupläne, alte Zeichnungen und Konstruktionsrechnungen zusammengetragen werden. Auch Unterlagen zu früheren Reparaturen sind wichtig, beispielsweise zu eingebauten Stahlankern, Betonergänzungen oder ausgetauschten Schwellen. Bekannte Schadensereignisse wie Wassereinbruch, Setzungen oder Brandeinheiten erklären, welche Bereiche genauer untersucht werden müssen. Ergänzend zählen Informationen zu Denkmalschutz, Baugenehmigungen und erhaltenswerter Bausubstanz sowie bisherige Beschichtungen und Imprägnierungen zu den relevanten Unterlagen. So lässt sich bereits vor der ersten Sichtprüfung erk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Vorbereitung schaffen einen belastbaren Start</a:t>
            </a:r>
          </a:p>
        </p:txBody>
      </p:sp>
      <p:sp>
        <p:nvSpPr>
          <p:cNvPr id="3" name="Content Placeholder 2"/>
          <p:cNvSpPr>
            <a:spLocks noGrp="1"/>
          </p:cNvSpPr>
          <p:nvPr>
            <p:ph idx="1"/>
          </p:nvPr>
        </p:nvSpPr>
        <p:spPr/>
        <p:txBody>
          <a:bodyPr/>
          <a:lstStyle/>
          <a:p>
            <a:pPr>
              <a:defRPr sz="1800"/>
            </a:pPr>
            <a:r>
              <a:t>ennen, wo das Fachwerk vom ursprünglichen Zustand abweicht.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und einfache Zustandskontrolle kombinieren</a:t>
            </a:r>
          </a:p>
        </p:txBody>
      </p:sp>
      <p:sp>
        <p:nvSpPr>
          <p:cNvPr id="3" name="Content Placeholder 2"/>
          <p:cNvSpPr>
            <a:spLocks noGrp="1"/>
          </p:cNvSpPr>
          <p:nvPr>
            <p:ph idx="1"/>
          </p:nvPr>
        </p:nvSpPr>
        <p:spPr/>
        <p:txBody>
          <a:bodyPr/>
          <a:lstStyle/>
          <a:p>
            <a:pPr>
              <a:defRPr sz="1800"/>
            </a:pPr>
            <a:r>
              <a:t>Bei der Sichtprüfung werden Verformungen, Durchbiegungen oder Schrägstellungen von Riegeln, Ständern und Schwellen erfasst. Ebenso wichtig sind Risse, Fehlstellen, Verfärbungen, Ausblühungen und lockere Gefachsteine. Spalten zwischen Holz und Ausfachung können auf Bewegungen oder Feuchteschäden hinweisen. Auch Spuren früherer Eingriffe, etwa aufgenagelte Bleche, eingemauerte Reaktionsbalken oder Putzüberdeckungen, gehören in die Dokumentation. Übersichtsaufnahmen der Fassade und Detailbilder einzelner Befunde schaffen eine klare Grundlage für die spätere Planung. Der Klopftest ergänzt die optische Prüfung: Ein dumpfer oder hohler Klang kann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Sichtprüfung und einfache Zustandskontrolle kombinieren</a:t>
            </a:r>
          </a:p>
        </p:txBody>
      </p:sp>
      <p:sp>
        <p:nvSpPr>
          <p:cNvPr id="3" name="Content Placeholder 2"/>
          <p:cNvSpPr>
            <a:spLocks noGrp="1"/>
          </p:cNvSpPr>
          <p:nvPr>
            <p:ph idx="1"/>
          </p:nvPr>
        </p:nvSpPr>
        <p:spPr/>
        <p:txBody>
          <a:bodyPr/>
          <a:lstStyle/>
          <a:p>
            <a:pPr>
              <a:defRPr sz="1800"/>
            </a:pPr>
            <a:r>
              <a:t>uf eine innere Schädigung oder Ablösung hindeuten und zeigt, wo eine genauere Untersuchung sinnvoll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Pilz und gefährdete Anschlüsse gezielt prüfen</a:t>
            </a:r>
          </a:p>
        </p:txBody>
      </p:sp>
      <p:sp>
        <p:nvSpPr>
          <p:cNvPr id="3" name="Content Placeholder 2"/>
          <p:cNvSpPr>
            <a:spLocks noGrp="1"/>
          </p:cNvSpPr>
          <p:nvPr>
            <p:ph idx="1"/>
          </p:nvPr>
        </p:nvSpPr>
        <p:spPr/>
        <p:txBody>
          <a:bodyPr/>
          <a:lstStyle/>
          <a:p>
            <a:pPr>
              <a:defRPr sz="1800"/>
            </a:pPr>
            <a:r>
              <a:t>Holz im Außenbereich ist besonders dort beansprucht, wo Feuchte hingelangen oder dort stehen bleiben kann. Dazu zählen Schwellen und Sockelbereich, Anschlüsse an Dach, Gesimsprand und Fensterbänken, Stirnholzflächen sowie Bereiche hinter Verschalungen oder unter Verblechungen. Bei dunklen Verfärbungen, weichem Holz oder fruchtartigem Geruch muss die Feuchteursache besonders sorgfältig geklärt werden. Nicht nur der sichtbare Schaden ist relevant: Bleibt die Ursache der Durchfeuchtung bestehen, kann sich das Problem nach einer Sanierung erneut zeigen. Die ergänzende Übersicht zur Holzfassaden- und Fachwerksanierung bietet dafür den thematischen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Pilz und gefährdete Anschlüsse gezielt prüfen</a:t>
            </a:r>
          </a:p>
        </p:txBody>
      </p:sp>
      <p:sp>
        <p:nvSpPr>
          <p:cNvPr id="3" name="Content Placeholder 2"/>
          <p:cNvSpPr>
            <a:spLocks noGrp="1"/>
          </p:cNvSpPr>
          <p:nvPr>
            <p:ph idx="1"/>
          </p:nvPr>
        </p:nvSpPr>
        <p:spPr/>
        <p:txBody>
          <a:bodyPr/>
          <a:lstStyle/>
          <a:p>
            <a:pPr>
              <a:defRPr sz="1800"/>
            </a:pPr>
            <a:r>
              <a:t> Rahmen, während die Bestandsaufnahme vor der Fachwerksanierung den konkreten Ablauf der Prüfung strukturiert.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Ausfachungen und frühere Reparaturen in die Bewertung einbeziehen</a:t>
            </a:r>
          </a:p>
        </p:txBody>
      </p:sp>
      <p:sp>
        <p:nvSpPr>
          <p:cNvPr id="3" name="Content Placeholder 2"/>
          <p:cNvSpPr>
            <a:spLocks noGrp="1"/>
          </p:cNvSpPr>
          <p:nvPr>
            <p:ph idx="1"/>
          </p:nvPr>
        </p:nvSpPr>
        <p:spPr/>
        <p:txBody>
          <a:bodyPr/>
          <a:lstStyle/>
          <a:p>
            <a:pPr>
              <a:defRPr sz="1800"/>
            </a:pPr>
            <a:r>
              <a:t>Ein Fachwerkhaus kann über mehrere Bauphasen verändert worden sein. Deshalb werden auch die Gefachfüllungen und ergänzten Bauteile erfasst. Wichtig sind das Material der Ausfachung, etwa Lehm, Backstein, Kalksandstein oder Beton, sowie Risse, Hohlstellen und loser Putz. Frühere Holzreparaturen mit Reaktionsharz, Holzpflaster, eingeklebten Dübeln oder Stahlblechen können die Beurteilung beeinflussen. Auch Veränderungen an statisch relevanten Teilen und nachträglich eingebaute Elektroleitungen sind zu vermerken. Ebenso wie bei den Hölzern hilft eine grobe Bewertung der vorhandenen Holzqualität: Erkennbare Holzart, Faserrichtung, Wuchsfehler und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Ausfachungen und frühere Reparaturen in die Bewertung einbeziehen</a:t>
            </a:r>
          </a:p>
        </p:txBody>
      </p:sp>
      <p:sp>
        <p:nvSpPr>
          <p:cNvPr id="3" name="Content Placeholder 2"/>
          <p:cNvSpPr>
            <a:spLocks noGrp="1"/>
          </p:cNvSpPr>
          <p:nvPr>
            <p:ph idx="1"/>
          </p:nvPr>
        </p:nvSpPr>
        <p:spPr/>
        <p:txBody>
          <a:bodyPr/>
          <a:lstStyle/>
          <a:p>
            <a:pPr>
              <a:defRPr sz="1800"/>
            </a:pPr>
            <a:r>
              <a:t> Erhaltungszustand bilden die Grundlage für die Einteilung in erhalten, reparieren oder austauschen.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Befunde bündeln und daraus Maßnahmen ableiten</a:t>
            </a:r>
          </a:p>
        </p:txBody>
      </p:sp>
      <p:sp>
        <p:nvSpPr>
          <p:cNvPr id="3" name="Content Placeholder 2"/>
          <p:cNvSpPr>
            <a:spLocks noGrp="1"/>
          </p:cNvSpPr>
          <p:nvPr>
            <p:ph idx="1"/>
          </p:nvPr>
        </p:nvSpPr>
        <p:spPr/>
        <p:txBody>
          <a:bodyPr/>
          <a:lstStyle/>
          <a:p>
            <a:pPr>
              <a:defRPr sz="1800"/>
            </a:pPr>
            <a:r>
              <a:t>Am Ende werden alle Ergebnisse in einem übersichtlichen Bericht zusammengeführt. Erhaltene Hölzer und Gefache können lediglich eine fachgerechte Reinigung oder einen neuen Anstrich benötigen. Reparierbare Bauteile werden nach ihrer Art und dem Ausmaß des Schadens für örtliche Verstärkungen, Reaktionsverfahren oder Holzpflaster eingeordnet. Hölzer, die nicht mehr erhalten werden können, werden zum Austausch vorgesehen; zugleich sind konstruktive Ursachen zu berücksichtigen. Für die Projektanfrage helfen Übersichtsfotos, markierte Detailaufnahmen, Notizen zu Befunden und Eingriffen sowie Angaben zum Denkmalschutz. Die Bestandsaufnahme ersetzt 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Befunde bündeln und daraus Maßnahmen ableiten</a:t>
            </a:r>
          </a:p>
        </p:txBody>
      </p:sp>
      <p:sp>
        <p:nvSpPr>
          <p:cNvPr id="3" name="Content Placeholder 2"/>
          <p:cNvSpPr>
            <a:spLocks noGrp="1"/>
          </p:cNvSpPr>
          <p:nvPr>
            <p:ph idx="1"/>
          </p:nvPr>
        </p:nvSpPr>
        <p:spPr/>
        <p:txBody>
          <a:bodyPr/>
          <a:lstStyle/>
          <a:p>
            <a:pPr>
              <a:defRPr sz="1800"/>
            </a:pPr>
            <a:r>
              <a:t>eine vollständige Schadensanalyse, statische Nachweise oder bauphysikalische Bewertung. Sie schafft jedoch die belastbare Grundlage, um diese Folgeschritte gezielt zu beauftragen.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Bestandsaufnahme vor der Fachwerksanierung: Schritt für Schritt dokumentieren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