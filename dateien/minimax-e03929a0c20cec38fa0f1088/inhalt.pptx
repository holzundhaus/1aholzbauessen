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essen.blogspot.com/2026/10/erschlieung-und-brandschutz-bei-einer.html" TargetMode="External"/><Relationship Id="rId3" Type="http://schemas.openxmlformats.org/officeDocument/2006/relationships/hyperlink" Target="https://holzundhaus.github.io/1aholzbauessen/dateien/minimax-e03929a0c20cec38fa0f108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und Brandschutz bei einer Aufstockung in Holzrahmenbauweise · Erklärende Präsentation</a:t>
            </a:r>
          </a:p>
        </p:txBody>
      </p:sp>
      <p:sp>
        <p:nvSpPr>
          <p:cNvPr id="3" name="Content Placeholder 2"/>
          <p:cNvSpPr>
            <a:spLocks noGrp="1"/>
          </p:cNvSpPr>
          <p:nvPr>
            <p:ph idx="1"/>
          </p:nvPr>
        </p:nvSpPr>
        <p:spPr/>
        <p:txBody>
          <a:bodyPr/>
          <a:lstStyle/>
          <a:p>
            <a:r>
              <a:t>Überblick: Bei einer Aufstockung in Holzrahmenbauweise entsteht mehr als zusätzlicher Wohnraum. Entscheidend ist, wie das neue Geschoss erschlossen wird und welche brandschutztechnischen Anforderungen mit Treppe, Podest, Deckenöffnung und Rettungsweg verbunden sind. Wer diese Fragen frühzeitig gemeinsam betrachtet, kann spätere Umplanungen vermeiden und Anschlüsse zwischen Bestand und Holzbau konstruktiv sinnvoll lösen. Der folgende Leitfaden strukturiert die wichtigsten Entscheidungen für die Planungs- und Anfragephase.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und Tragwerk getrennt prüfen</a:t>
            </a:r>
          </a:p>
        </p:txBody>
      </p:sp>
      <p:sp>
        <p:nvSpPr>
          <p:cNvPr id="3" name="Content Placeholder 2"/>
          <p:cNvSpPr>
            <a:spLocks noGrp="1"/>
          </p:cNvSpPr>
          <p:nvPr>
            <p:ph idx="1"/>
          </p:nvPr>
        </p:nvSpPr>
        <p:spPr/>
        <p:txBody>
          <a:bodyPr/>
          <a:lstStyle/>
          <a:p>
            <a:pPr>
              <a:defRPr sz="1800"/>
            </a:pPr>
            <a:r>
              <a:t>Bei einer Aufstockung lassen sich Erschließung, Tragstruktur und Brandschutz als drei Aufgaben beschreiben, die sich gegenseitig beeinflussen. Die Erschließung umfasst Treppe, Podest, Durchgang und Anschluss an die vorhandene Decke. Die Tragstruktur betrifft die Frage, welche zusätzlichen Lasten über die Bestandsdecke geführt werden und welche Reserven vorhanden sind. Der Brandschutz richtet sich nach Gebäudeklasse, Nutzung und Lage des neuen Geschosses. Eine konkrete Treppe verändert den Grundriss, die gewählte Decke bestimmt den Anschlusspunkt, und die brandschutztechnische Ausführung beeinflusst beide Entscheidungen. Deshalb sollten die 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und Tragwerk getrennt prüfen</a:t>
            </a:r>
          </a:p>
        </p:txBody>
      </p:sp>
      <p:sp>
        <p:nvSpPr>
          <p:cNvPr id="3" name="Content Placeholder 2"/>
          <p:cNvSpPr>
            <a:spLocks noGrp="1"/>
          </p:cNvSpPr>
          <p:nvPr>
            <p:ph idx="1"/>
          </p:nvPr>
        </p:nvSpPr>
        <p:spPr/>
        <p:txBody>
          <a:bodyPr/>
          <a:lstStyle/>
          <a:p>
            <a:pPr>
              <a:defRPr sz="1800"/>
            </a:pPr>
            <a:r>
              <a:t>forderungen nicht erst nach der Festlegung der Holzkonstruktion besprochen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 Podest und Deckenöffnung früh festlegen</a:t>
            </a:r>
          </a:p>
        </p:txBody>
      </p:sp>
      <p:sp>
        <p:nvSpPr>
          <p:cNvPr id="3" name="Content Placeholder 2"/>
          <p:cNvSpPr>
            <a:spLocks noGrp="1"/>
          </p:cNvSpPr>
          <p:nvPr>
            <p:ph idx="1"/>
          </p:nvPr>
        </p:nvSpPr>
        <p:spPr/>
        <p:txBody>
          <a:bodyPr/>
          <a:lstStyle/>
          <a:p>
            <a:pPr>
              <a:defRPr sz="1800"/>
            </a:pPr>
            <a:r>
              <a:t>Häufig beginnt eine innenliegende Treppe im Bestandsgeschoss und endet auf einem Podest im neuen Geschoss. Für die Planung sind zunächst die Lage der Treppe und die Lage des Podests relevant. Befindet sich die Treppe im Bereich einer Bestandswand, können Lasten unter Umständen kürzer abgetragen werden. Steht sie im Feld der Decke, kann ein Träger oder eine Wechselkonstruktion erforderlich werden. Ein freistehendes Podest erzeugt zusätzliche Punktlasten. Auch die lichten Maße von Treppe und Treppenraum müssen früh bekannt sein, weil sie die Öffnung in der Bestandsdecke bestimmen. Wichtig bleibt: Eine Aufstockung ersetzt keinen Nachweis der Tra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 Podest und Deckenöffnung früh festlegen</a:t>
            </a:r>
          </a:p>
        </p:txBody>
      </p:sp>
      <p:sp>
        <p:nvSpPr>
          <p:cNvPr id="3" name="Content Placeholder 2"/>
          <p:cNvSpPr>
            <a:spLocks noGrp="1"/>
          </p:cNvSpPr>
          <p:nvPr>
            <p:ph idx="1"/>
          </p:nvPr>
        </p:nvSpPr>
        <p:spPr/>
        <p:txBody>
          <a:bodyPr/>
          <a:lstStyle/>
          <a:p>
            <a:pPr>
              <a:defRPr sz="1800"/>
            </a:pPr>
            <a:r>
              <a:t>gfähigkeit der vorhandenen Decke. Die vorhandenen Reserven sind separat zu prüfen.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Rettungsweg früh in die Raumplanung einbeziehen</a:t>
            </a:r>
          </a:p>
        </p:txBody>
      </p:sp>
      <p:sp>
        <p:nvSpPr>
          <p:cNvPr id="3" name="Content Placeholder 2"/>
          <p:cNvSpPr>
            <a:spLocks noGrp="1"/>
          </p:cNvSpPr>
          <p:nvPr>
            <p:ph idx="1"/>
          </p:nvPr>
        </p:nvSpPr>
        <p:spPr/>
        <p:txBody>
          <a:bodyPr/>
          <a:lstStyle/>
          <a:p>
            <a:pPr>
              <a:defRPr sz="1800"/>
            </a:pPr>
            <a:r>
              <a:t>Das neue Geschoss benötigt in der Regel einen eigenen Rettungsweg. Dafür kommen grundsätzlich die neue Treppe oder ein zusätzlicher Ausstieg, beispielsweise über ein zweites Fenster oder eine weitere Treppe, in Betracht. Welche Lösung möglich ist, hängt von Gebäudeklasse, Nutzung und Lage des Gebäudes ab. Weil der Rettungsweg die Position der Treppe und die Anordnung der Räume beeinflusst, sollte er bereits in der ersten Planungsphase geklärt werden. Für eine erste baurechtliche Einordnung kann in Essen die Bauaufsicht der Stadt ein geeigneter Anlaufpunkt sein. Das ersetzt nicht die Prüfung des konkreten Vorhabens, hilft aber dabei, die notwe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Rettungsweg früh in die Raumplanung einbeziehen</a:t>
            </a:r>
          </a:p>
        </p:txBody>
      </p:sp>
      <p:sp>
        <p:nvSpPr>
          <p:cNvPr id="3" name="Content Placeholder 2"/>
          <p:cNvSpPr>
            <a:spLocks noGrp="1"/>
          </p:cNvSpPr>
          <p:nvPr>
            <p:ph idx="1"/>
          </p:nvPr>
        </p:nvSpPr>
        <p:spPr/>
        <p:txBody>
          <a:bodyPr/>
          <a:lstStyle/>
          <a:p>
            <a:pPr>
              <a:defRPr sz="1800"/>
            </a:pPr>
            <a:r>
              <a:t>ndigen Informationen zusammenzustellen.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an Schnittstellen und Treppenhaus</a:t>
            </a:r>
          </a:p>
        </p:txBody>
      </p:sp>
      <p:sp>
        <p:nvSpPr>
          <p:cNvPr id="3" name="Content Placeholder 2"/>
          <p:cNvSpPr>
            <a:spLocks noGrp="1"/>
          </p:cNvSpPr>
          <p:nvPr>
            <p:ph idx="1"/>
          </p:nvPr>
        </p:nvSpPr>
        <p:spPr/>
        <p:txBody>
          <a:bodyPr/>
          <a:lstStyle/>
          <a:p>
            <a:pPr>
              <a:defRPr sz="1800"/>
            </a:pPr>
            <a:r>
              <a:t>Die brandschutztechnischen Anforderungen sind im Holzrahmenbau nicht grundsätzlich anders als in anderen Bauweisen. Entscheidend ist jedoch, wie die konstruktiven Details ausgeführt werden. Für Wände und Decken kann eine brandschutztechnisch erforderliche Bekleidung erforderlich sein. Sie gehört zur Holzrahmenkonstruktion und beeinflusst damit die Bauteildicke. Besonders aufwendig kann der Anschluss zwischen dem neuen Geschoss und der Bestandsdecke sein, weil dort unterschiedliche Bauteile und konstruktive Systeme aufeinandertreffen. Auch die Entscheidung, ob das Treppenhaus als eigener Brandabschnitt ausgebildet wird, wirkt sich auf Wandkons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an Schnittstellen und Treppenhaus</a:t>
            </a:r>
          </a:p>
        </p:txBody>
      </p:sp>
      <p:sp>
        <p:nvSpPr>
          <p:cNvPr id="3" name="Content Placeholder 2"/>
          <p:cNvSpPr>
            <a:spLocks noGrp="1"/>
          </p:cNvSpPr>
          <p:nvPr>
            <p:ph idx="1"/>
          </p:nvPr>
        </p:nvSpPr>
        <p:spPr/>
        <p:txBody>
          <a:bodyPr/>
          <a:lstStyle/>
          <a:p>
            <a:pPr>
              <a:defRPr sz="1800"/>
            </a:pPr>
            <a:r>
              <a:t>truktion und Anbindung aus. Diese Punkte sollten daher mit der Tragwerks- und Brandschutzplanung abgestimmt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für eine aussagekräftige Projektanfrage</a:t>
            </a:r>
          </a:p>
        </p:txBody>
      </p:sp>
      <p:sp>
        <p:nvSpPr>
          <p:cNvPr id="3" name="Content Placeholder 2"/>
          <p:cNvSpPr>
            <a:spLocks noGrp="1"/>
          </p:cNvSpPr>
          <p:nvPr>
            <p:ph idx="1"/>
          </p:nvPr>
        </p:nvSpPr>
        <p:spPr/>
        <p:txBody>
          <a:bodyPr/>
          <a:lstStyle/>
          <a:p>
            <a:pPr>
              <a:defRPr sz="1800"/>
            </a:pPr>
            <a:r>
              <a:t>Für die erste Anfrage genügt eine sorgfältige Beschreibung der vorhandenen Situation und der gewünschten Erschließung. Hilfreich sind die Lage und Größe des geplanten Treppenhauses im Grundriss, die ungefähre Lage der Deckenöffnung im Bestand sowie bekannte Anforderungen an den Rettungsweg. Ebenso relevant sind Informationen zur Gebäudeklasse oder Nutzung und bereits bekannte Auflagen aus dem Baurecht oder von der Bauaufsicht. Mit diesen Angaben lässt sich besser einschätzen, welche Anschlüsse und Vorarbeiten erforderlich sind und welche Prüfungen noch folgen. Der Ablauf sollte nicht bei der zusätzlichen Fläche beginnen, sondern bei der Frage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Angaben für eine aussagekräftige Projektanfrage</a:t>
            </a:r>
          </a:p>
        </p:txBody>
      </p:sp>
      <p:sp>
        <p:nvSpPr>
          <p:cNvPr id="3" name="Content Placeholder 2"/>
          <p:cNvSpPr>
            <a:spLocks noGrp="1"/>
          </p:cNvSpPr>
          <p:nvPr>
            <p:ph idx="1"/>
          </p:nvPr>
        </p:nvSpPr>
        <p:spPr/>
        <p:txBody>
          <a:bodyPr/>
          <a:lstStyle/>
          <a:p>
            <a:pPr>
              <a:defRPr sz="1800"/>
            </a:pPr>
            <a:r>
              <a:t>, wie das neue Geschoss sicher erschlossen und an den Bestand angebunden wird.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Erschließung und Brandschutz bei einer Aufstockung in Holzrahmenbauweise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