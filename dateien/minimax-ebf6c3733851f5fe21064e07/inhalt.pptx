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1aholzbauessen/bauvoranfrage-essen-einzelfrage-formulieren/" TargetMode="External"/><Relationship Id="rId3" Type="http://schemas.openxmlformats.org/officeDocument/2006/relationships/hyperlink" Target="https://holzundhaus.github.io/1aholzbauessen/dateien/minimax-ebf6c3733851f5fe21064e07/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Bauvoranfrage in Essen: So formulieren Sie die entscheidende Einzelfrage · Erklärende Präsentation</a:t>
            </a:r>
          </a:p>
        </p:txBody>
      </p:sp>
      <p:sp>
        <p:nvSpPr>
          <p:cNvPr id="3" name="Content Placeholder 2"/>
          <p:cNvSpPr>
            <a:spLocks noGrp="1"/>
          </p:cNvSpPr>
          <p:nvPr>
            <p:ph idx="1"/>
          </p:nvPr>
        </p:nvSpPr>
        <p:spPr/>
        <p:txBody>
          <a:bodyPr/>
          <a:lstStyle/>
          <a:p>
            <a:r>
              <a:t>Überblick: Eine Bauvoranfrage bei der Stadt Essen soll eine einzelne baurechtliche Entscheidung klären. Dafür müssen Vorhaben, Grundstück und offener Prüfpunkt präzise zusammengeführt werden. Wer stattdessen möglichst viele Aspekte auf einmal stellt, riskiert eine allgemeine Antwort, die für die weitere Planung wenig hilfreich ist. Das folgende Verfahren hilft dabei, eine wirklich entscheidbare Einzelfrage vorzubereiten und die gewonnene Auskunft anschließend sinnvoll einzuordnen.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 fünf Schritten zur vorbereiteten Einzelfrage</a:t>
            </a:r>
          </a:p>
        </p:txBody>
      </p:sp>
      <p:sp>
        <p:nvSpPr>
          <p:cNvPr id="3" name="Content Placeholder 2"/>
          <p:cNvSpPr>
            <a:spLocks noGrp="1"/>
          </p:cNvSpPr>
          <p:nvPr>
            <p:ph idx="1"/>
          </p:nvPr>
        </p:nvSpPr>
        <p:spPr/>
        <p:txBody>
          <a:bodyPr/>
          <a:lstStyle/>
          <a:p>
            <a:pPr>
              <a:defRPr sz="1800"/>
            </a:pPr>
            <a:r>
              <a:t>Beginnen Sie mit einer kurzen Bestandsaufnahme: Nennen Sie die Adresse des Grundstücks, das Flurstück und die vorhandene Bebauung. Beschreiben Sie danach knapp das geplante Vorhaben, insbesondere Nutzung, Lage und grundsätzliche Dimensionierung. Entscheidend ist anschließend die offene Frage. Sie sollte sich mit Ja, Nein oder einer Bedingung beantworten lassen und einen konkreten Bezug zum genannten Grundstück besitzen. Falls ein älterer Bescheid vorliegt, können Sie hierzu in wenigen Worten die heutige Rechtslage und den Anlass der Anfrage nennen. Bauvorlagen, Unterlagen und weitere formale Anforderungen gehören nicht in die eigentliche Einz</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 fünf Schritten zur vorbereiteten Einzelfrage</a:t>
            </a:r>
          </a:p>
        </p:txBody>
      </p:sp>
      <p:sp>
        <p:nvSpPr>
          <p:cNvPr id="3" name="Content Placeholder 2"/>
          <p:cNvSpPr>
            <a:spLocks noGrp="1"/>
          </p:cNvSpPr>
          <p:nvPr>
            <p:ph idx="1"/>
          </p:nvPr>
        </p:nvSpPr>
        <p:spPr/>
        <p:txBody>
          <a:bodyPr/>
          <a:lstStyle/>
          <a:p>
            <a:pPr>
              <a:defRPr sz="1800"/>
            </a:pPr>
            <a:r>
              <a:t>elfrage, sondern sollten separat mit der zuständigen Stelle geklärt werden.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Frage richtig eingrenzen</a:t>
            </a:r>
          </a:p>
        </p:txBody>
      </p:sp>
      <p:sp>
        <p:nvSpPr>
          <p:cNvPr id="3" name="Content Placeholder 2"/>
          <p:cNvSpPr>
            <a:spLocks noGrp="1"/>
          </p:cNvSpPr>
          <p:nvPr>
            <p:ph idx="1"/>
          </p:nvPr>
        </p:nvSpPr>
        <p:spPr/>
        <p:txBody>
          <a:bodyPr/>
          <a:lstStyle/>
          <a:p>
            <a:pPr>
              <a:defRPr sz="1800"/>
            </a:pPr>
            <a:r>
              <a:t>Eine brauchbare Einzelfrage enthält nur den Punkt, von dem die weitere Planung abhängt. Das kann die baurechtliche Zulässigkeit eines genau bezeichneten Anbaus, eine künftig veränderte Nutzung oder die grundsätzliche Machbarkeit einer Aufstockung auf einem vorhandenen Tragwerk sein. Formulierungen wie „Ist mein Vorhaben in Ordnung?“ oder „Geht das?“ sind zu unscharf. Auch mehrere Wünsche in einem Satz erschweren eine eindeutige Antwort. Halten Sie Lage, Nutzung, Gestaltung und konstruktive Ausführung getrennt. Materialwahl, Dämmung, Anschlussausbildungen und Tragfähigkeit sind meist Aufgaben der späteren Planung. So bleibt die tragende rechtl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Frage richtig eingrenzen</a:t>
            </a:r>
          </a:p>
        </p:txBody>
      </p:sp>
      <p:sp>
        <p:nvSpPr>
          <p:cNvPr id="3" name="Content Placeholder 2"/>
          <p:cNvSpPr>
            <a:spLocks noGrp="1"/>
          </p:cNvSpPr>
          <p:nvPr>
            <p:ph idx="1"/>
          </p:nvPr>
        </p:nvSpPr>
        <p:spPr/>
        <p:txBody>
          <a:bodyPr/>
          <a:lstStyle/>
          <a:p>
            <a:pPr>
              <a:defRPr sz="1800"/>
            </a:pPr>
            <a:r>
              <a:t>iche Frage sichtbar.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Konkrete Formulierungen als Orientierung</a:t>
            </a:r>
          </a:p>
        </p:txBody>
      </p:sp>
      <p:sp>
        <p:nvSpPr>
          <p:cNvPr id="3" name="Content Placeholder 2"/>
          <p:cNvSpPr>
            <a:spLocks noGrp="1"/>
          </p:cNvSpPr>
          <p:nvPr>
            <p:ph idx="1"/>
          </p:nvPr>
        </p:nvSpPr>
        <p:spPr/>
        <p:txBody>
          <a:bodyPr/>
          <a:lstStyle/>
          <a:p>
            <a:pPr>
              <a:defRPr sz="1800"/>
            </a:pPr>
            <a:r>
              <a:t>Je nach Vorhaben kann die vorbereitete Frage beispielsweise lauten: „Ist ein eingeschossiger Anbau in Holzrahmenbauweise an der Südseite des Grundstücks X in Essen nach den heutigen planungsrechtlichen Vorgaben zulässig?“ Bei einer geänderten Nutzung wäre zu fragen: „Kann die bisherige Wohnfläche im Dachgeschoss als separate Einheit baurechtlich abgetrennt werden?“ Für eine Aufstockung bietet sich die Formulierung „Ist eine Aufstockung um ein Vollgeschoss auf dem bestehenden Tragwerk grundsätzlich denkbar?“ an. Diese Beispiele zeigen das Prinzip: genauer Ort, konkretes Vorhaben, benannte Bauweise und eine einzige Entscheidungsfrage. Die ausfü</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Konkrete Formulierungen als Orientierung</a:t>
            </a:r>
          </a:p>
        </p:txBody>
      </p:sp>
      <p:sp>
        <p:nvSpPr>
          <p:cNvPr id="3" name="Content Placeholder 2"/>
          <p:cNvSpPr>
            <a:spLocks noGrp="1"/>
          </p:cNvSpPr>
          <p:nvPr>
            <p:ph idx="1"/>
          </p:nvPr>
        </p:nvSpPr>
        <p:spPr/>
        <p:txBody>
          <a:bodyPr/>
          <a:lstStyle/>
          <a:p>
            <a:pPr>
              <a:defRPr sz="1800"/>
            </a:pPr>
            <a:r>
              <a:t>hrliche Gegenüberstellung zur Bauvoranfrage in Essen ergänzt die Beispiele um weitere Formulierungshilfen.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Angaben bereithalten, ohne die Frage zu überladen</a:t>
            </a:r>
          </a:p>
        </p:txBody>
      </p:sp>
      <p:sp>
        <p:nvSpPr>
          <p:cNvPr id="3" name="Content Placeholder 2"/>
          <p:cNvSpPr>
            <a:spLocks noGrp="1"/>
          </p:cNvSpPr>
          <p:nvPr>
            <p:ph idx="1"/>
          </p:nvPr>
        </p:nvSpPr>
        <p:spPr/>
        <p:txBody>
          <a:bodyPr/>
          <a:lstStyle/>
          <a:p>
            <a:pPr>
              <a:defRPr sz="1800"/>
            </a:pPr>
            <a:r>
              <a:t>Für die Vorbereitung sollten die wichtigsten Eckdaten griffbereit sein: Grundstücksadresse, Flurstück, vorhandene Gebäude, gewünschte Nutzung, geplante Lage sowie – soweit bereits bekannt – Maße des Vorhabens. Ein maßstäblicher Lageplan oder eine maßstäbliche Flurkarte kann helfen, den räumlichen Bezug eindeutig zu machen. Geben Sie an, auf welchen Bereich sich die Frage bezieht, und vermeiden Sie allgemeine Verweise auf „das Haus“ oder „das Grundstück“. Stellen Sie außerdem klar, ob es um eine Nutzungsänderung, einen Anbau, eine Aufstockung oder einen anderen baurechtlichen Punkt geht. Der passende Beitrag auf der Hauptseite führt diese vorb</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Angaben bereithalten, ohne die Frage zu überladen</a:t>
            </a:r>
          </a:p>
        </p:txBody>
      </p:sp>
      <p:sp>
        <p:nvSpPr>
          <p:cNvPr id="3" name="Content Placeholder 2"/>
          <p:cNvSpPr>
            <a:spLocks noGrp="1"/>
          </p:cNvSpPr>
          <p:nvPr>
            <p:ph idx="1"/>
          </p:nvPr>
        </p:nvSpPr>
        <p:spPr/>
        <p:txBody>
          <a:bodyPr/>
          <a:lstStyle/>
          <a:p>
            <a:pPr>
              <a:defRPr sz="1800"/>
            </a:pPr>
            <a:r>
              <a:t>ereitenden Angaben im größeren Zusammenhang weiter.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schriftliche Antwort auswerten</a:t>
            </a:r>
          </a:p>
        </p:txBody>
      </p:sp>
      <p:sp>
        <p:nvSpPr>
          <p:cNvPr id="3" name="Content Placeholder 2"/>
          <p:cNvSpPr>
            <a:spLocks noGrp="1"/>
          </p:cNvSpPr>
          <p:nvPr>
            <p:ph idx="1"/>
          </p:nvPr>
        </p:nvSpPr>
        <p:spPr/>
        <p:txBody>
          <a:bodyPr/>
          <a:lstStyle/>
          <a:p>
            <a:pPr>
              <a:defRPr sz="1800"/>
            </a:pPr>
            <a:r>
              <a:t>Nach Eingang sollten Sie prüfen, ob die Antwort den gestellten Punkt tatsächlich beantwortet. Eine unklare Formulierung ist kein Grund, sofort ein vollständiges Bauvorhaben einzureichen. Klären Sie zunächst, ob die genannten Voraussetzungen erfüllt sind oder ob die Antwort eine Bedingung nennt. Dokumentieren Sie die verwendete Fragestellung und den Bezug zum Grundstück, damit bei Rückfragen klar erkennbar bleibt, worauf sich die Auskunft bezieht. Achten Sie außerdem darauf, welche Angaben für eine spätere Genehmigung oder Bauvorlage noch benötigt werden. Diese gehören anschließend in die direkte Abstimmung mit der zuständigen Stelle. So wird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schriftliche Antwort auswerten</a:t>
            </a:r>
          </a:p>
        </p:txBody>
      </p:sp>
      <p:sp>
        <p:nvSpPr>
          <p:cNvPr id="3" name="Content Placeholder 2"/>
          <p:cNvSpPr>
            <a:spLocks noGrp="1"/>
          </p:cNvSpPr>
          <p:nvPr>
            <p:ph idx="1"/>
          </p:nvPr>
        </p:nvSpPr>
        <p:spPr/>
        <p:txBody>
          <a:bodyPr/>
          <a:lstStyle/>
          <a:p>
            <a:pPr>
              <a:defRPr sz="1800"/>
            </a:pPr>
            <a:r>
              <a:t>die Bauvoranfrage nicht zum Ersatz für die eigentliche Planung, sondern zu einer belastbaren Grundlage für den nächsten Schritt.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Bauvoranfrage in Essen: So formulieren Sie die entscheidende Einzelfrage</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