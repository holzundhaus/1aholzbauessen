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essen/dachsanierung-essen-reihenfolge-bestandsaufnahme-statik-baurecht/" TargetMode="External"/><Relationship Id="rId3" Type="http://schemas.openxmlformats.org/officeDocument/2006/relationships/hyperlink" Target="https://holzundhaus.github.io/1aholzbauessen/dateien/minimax-04fa9b9ff8d72e56624a75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in Essen: Reihenfolge von Bestandsaufnahme, Statik und Baurecht · Erklärende Präsentation</a:t>
            </a:r>
          </a:p>
        </p:txBody>
      </p:sp>
      <p:sp>
        <p:nvSpPr>
          <p:cNvPr id="3" name="Content Placeholder 2"/>
          <p:cNvSpPr>
            <a:spLocks noGrp="1"/>
          </p:cNvSpPr>
          <p:nvPr>
            <p:ph idx="1"/>
          </p:nvPr>
        </p:nvSpPr>
        <p:spPr/>
        <p:txBody>
          <a:bodyPr/>
          <a:lstStyle/>
          <a:p>
            <a:r>
              <a:t>Überblick: Bei einer Dachsanierung in Essen entscheidet nicht das Tempo einzelner Arbeitsschritte, sondern die belastbare Reihenfolge. Eine sorgfältige Bestandsaufnahme bildet die Grundlage für die statische Beurteilung; erst mit beiden Erkenntnissen lässt sich ein konkretes Vorhaben der Bauaufsicht vorstellen. Dieser Ablauf hilft Eigentümern und Planenden, Unterlagen zu sortieren, Zuständigkeiten zu klären und Rückfragen zu vermeiden. Er ersetzt weder die Prüfung durch qualifizierte Fachleute noch die verbindliche Entscheidung der zuständigen Behörde.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Anlass und Bestand sauber erfassen</a:t>
            </a:r>
          </a:p>
        </p:txBody>
      </p:sp>
      <p:sp>
        <p:nvSpPr>
          <p:cNvPr id="3" name="Content Placeholder 2"/>
          <p:cNvSpPr>
            <a:spLocks noGrp="1"/>
          </p:cNvSpPr>
          <p:nvPr>
            <p:ph idx="1"/>
          </p:nvPr>
        </p:nvSpPr>
        <p:spPr/>
        <p:txBody>
          <a:bodyPr/>
          <a:lstStyle/>
          <a:p>
            <a:pPr>
              <a:defRPr sz="1800"/>
            </a:pPr>
            <a:r>
              <a:t>Der wichtigste erste Schritt ist eine nachvollziehbare Bestandsaufnahme. Dabei werden Grundriss, Schnitt, frühere Genehmigungen, bekannte Schäden und bereits ausgeführte Reparaturen gesammelt. Ergänzend helfen Übersichtsbilder sowie Detailfotos mit kurzer Beschreibung auffälliger Stellen. Wichtig ist, sichtbare Feuchte, gewünschte zusätzliche Nutzung und geplante Änderungen an der Dachform getrennt festzuhalten. Eine ehrliche Sammlung mit Lücken ist mehr wert als unklare oder nachträglich ergänzte Angaben, weil Planende auf dieser Grundlage den tatsächlichen Zustand prüfen können. Fehlt eine Bauakte, kann sie beim Bauaktenarchiv der Stadt 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Anlass und Bestand sauber erfassen</a:t>
            </a:r>
          </a:p>
        </p:txBody>
      </p:sp>
      <p:sp>
        <p:nvSpPr>
          <p:cNvPr id="3" name="Content Placeholder 2"/>
          <p:cNvSpPr>
            <a:spLocks noGrp="1"/>
          </p:cNvSpPr>
          <p:nvPr>
            <p:ph idx="1"/>
          </p:nvPr>
        </p:nvSpPr>
        <p:spPr/>
        <p:txBody>
          <a:bodyPr/>
          <a:lstStyle/>
          <a:p>
            <a:pPr>
              <a:defRPr sz="1800"/>
            </a:pPr>
            <a:r>
              <a:t>en angefragt werden. Voraussetzungen, Bestellmöglichkeit und Bearbeitungszeiten sollten vorab direkt bei der Stadt geklärt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die Planung braucht</a:t>
            </a:r>
          </a:p>
        </p:txBody>
      </p:sp>
      <p:sp>
        <p:nvSpPr>
          <p:cNvPr id="3" name="Content Placeholder 2"/>
          <p:cNvSpPr>
            <a:spLocks noGrp="1"/>
          </p:cNvSpPr>
          <p:nvPr>
            <p:ph idx="1"/>
          </p:nvPr>
        </p:nvSpPr>
        <p:spPr/>
        <p:txBody>
          <a:bodyPr/>
          <a:lstStyle/>
          <a:p>
            <a:pPr>
              <a:defRPr sz="1800"/>
            </a:pPr>
            <a:r>
              <a:t>Für die weitere Planung benötigen die Beteiligten mehr als einen allgemeinen Zustandsbericht. Hilfreich ist eine geordnete Unterlagenübersicht, die vorhandene Pläne, Beobachtungen, Vorschläge zum Anlass und offene Punkte enthält. Wird eine Bauvoranfrage vorbereitet, sollte daraus eine konkrete Frage hervorgehen, etwa zu einer vorgesehenen Gaube, einer Änderung der Nutzung oder zusätzlicher Dämmung. Fotos sollten Bauteilen und Auffälligkeiten eindeutig zuordenbar sein. So lässt sich vermeiden, dass verschiedene Beteiligte unterschiedliche Annahmen bearbeiten. Werden Bauakten angefordert, kann die Bestandsaufnahme trotzdem fortgeführt werden: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die Planung braucht</a:t>
            </a:r>
          </a:p>
        </p:txBody>
      </p:sp>
      <p:sp>
        <p:nvSpPr>
          <p:cNvPr id="3" name="Content Placeholder 2"/>
          <p:cNvSpPr>
            <a:spLocks noGrp="1"/>
          </p:cNvSpPr>
          <p:nvPr>
            <p:ph idx="1"/>
          </p:nvPr>
        </p:nvSpPr>
        <p:spPr/>
        <p:txBody>
          <a:bodyPr/>
          <a:lstStyle/>
          <a:p>
            <a:pPr>
              <a:defRPr sz="1800"/>
            </a:pPr>
            <a:r>
              <a:t>ehlende Unterlagen werden als Lücke dokumentiert und nicht durch Annahmen ersetzt.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Statik erst nach dem Bestand sinnvoll ist</a:t>
            </a:r>
          </a:p>
        </p:txBody>
      </p:sp>
      <p:sp>
        <p:nvSpPr>
          <p:cNvPr id="3" name="Content Placeholder 2"/>
          <p:cNvSpPr>
            <a:spLocks noGrp="1"/>
          </p:cNvSpPr>
          <p:nvPr>
            <p:ph idx="1"/>
          </p:nvPr>
        </p:nvSpPr>
        <p:spPr/>
        <p:txBody>
          <a:bodyPr/>
          <a:lstStyle/>
          <a:p>
            <a:pPr>
              <a:defRPr sz="1800"/>
            </a:pPr>
            <a:r>
              <a:t>Die statische Beurteilung setzt auf den Ergebnissen der Bestandsaufnahme auf. Dafür werden die vorhandene Konstruktion, Anschlüsse, Lasten, Verformungen, Feuchte und frühere Eingriffe untersucht. Vorhandene Pläne müssen dabei mit dem tatsächlichen Gebäudestand abgeglichen werden. Entscheidend ist außerdem, welche Änderungen geplant sind: Eine Sanierung im Bestand, eine Aufstockung, eine Gaube oder eine neue Dämmebene kann unterschiedliche Anforderungen an das Tragwerk haben. Eine pauschale Aussage zur Tragfähigkeit lässt sich ohne dokumentierten Zustand nicht treffen. Die Beurteilung gehört daher in die Hände entsprechend qualifizierter Fachl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Statik erst nach dem Bestand sinnvoll ist</a:t>
            </a:r>
          </a:p>
        </p:txBody>
      </p:sp>
      <p:sp>
        <p:nvSpPr>
          <p:cNvPr id="3" name="Content Placeholder 2"/>
          <p:cNvSpPr>
            <a:spLocks noGrp="1"/>
          </p:cNvSpPr>
          <p:nvPr>
            <p:ph idx="1"/>
          </p:nvPr>
        </p:nvSpPr>
        <p:spPr/>
        <p:txBody>
          <a:bodyPr/>
          <a:lstStyle/>
          <a:p>
            <a:pPr>
              <a:defRPr sz="1800"/>
            </a:pPr>
            <a:r>
              <a:t>eute und sollte zugleich festhalten, auf welche Bestandsangaben und Planungsstände sie sich stützt.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baurechtliche Klärung vorbereiten</a:t>
            </a:r>
          </a:p>
        </p:txBody>
      </p:sp>
      <p:sp>
        <p:nvSpPr>
          <p:cNvPr id="3" name="Content Placeholder 2"/>
          <p:cNvSpPr>
            <a:spLocks noGrp="1"/>
          </p:cNvSpPr>
          <p:nvPr>
            <p:ph idx="1"/>
          </p:nvPr>
        </p:nvSpPr>
        <p:spPr/>
        <p:txBody>
          <a:bodyPr/>
          <a:lstStyle/>
          <a:p>
            <a:pPr>
              <a:defRPr sz="1800"/>
            </a:pPr>
            <a:r>
              <a:t>Nach Bestandsaufnahme und statischer Einschätzung kann das Vorhaben der Bauaufsicht mit konkreten Angaben vorgestellt werden. Dafür gehören eine Vorhabensbeschreibung, ein Lageplan, die erforderlichen Planunterlagen und die klar benannte offene Frage zusammen. In einer Bauvoranfrage können einzelne Punkte vorab geklärt werden; sie ist kein Bauantrag. Zu prüfen sind insbesondere, ob das Vorhaben verfahrensfrei ist oder eine Genehmigung benötigt, ob die beabsichtigte Nutzung am Bestand zulässig ist und welche Bauvorlagen im konkreten Fall verlangt werden. Auch bei einem verfahrensfreien Vorhaben müssen die einschlägigen Anforderungen eingehalte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baurechtliche Klärung vorbereiten</a:t>
            </a:r>
          </a:p>
        </p:txBody>
      </p:sp>
      <p:sp>
        <p:nvSpPr>
          <p:cNvPr id="3" name="Content Placeholder 2"/>
          <p:cNvSpPr>
            <a:spLocks noGrp="1"/>
          </p:cNvSpPr>
          <p:nvPr>
            <p:ph idx="1"/>
          </p:nvPr>
        </p:nvSpPr>
        <p:spPr/>
        <p:txBody>
          <a:bodyPr/>
          <a:lstStyle/>
          <a:p>
            <a:pPr>
              <a:defRPr sz="1800"/>
            </a:pPr>
            <a:r>
              <a:t>n werden. Verbindliche Auskünfte erteilt die zuständige Behörde für den jeweiligen Standort und das konkrete Vorhaben.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Übergaben dokumentieren und Fehler vermeiden</a:t>
            </a:r>
          </a:p>
        </p:txBody>
      </p:sp>
      <p:sp>
        <p:nvSpPr>
          <p:cNvPr id="3" name="Content Placeholder 2"/>
          <p:cNvSpPr>
            <a:spLocks noGrp="1"/>
          </p:cNvSpPr>
          <p:nvPr>
            <p:ph idx="1"/>
          </p:nvPr>
        </p:nvSpPr>
        <p:spPr/>
        <p:txBody>
          <a:bodyPr/>
          <a:lstStyle/>
          <a:p>
            <a:pPr>
              <a:defRPr sz="1800"/>
            </a:pPr>
            <a:r>
              <a:t>Der Ablauf wird erst zuverlässig, wenn jede Übergabe nachvollziehbar ist. Eigentümer übergeben Beobachtungen, Fotos, vorhandene Pläne und den Stand der Vorbereitung an die Planenden. Diese übergeben Aufmaß, Bauteilbeschreibung und geplante Eingriffe an die Tragwerksplanung sowie anschließend Vorhabenbeschreibung, Lageplan und konkrete Frage an die Bauaufsicht. Typische Reihenfolgefehler sind eine Statik ohne Bestandsaufnahme, ein zu früher Bauantrag oder die Verwechslung einer Beobachtung mit ihrer Ursache. Eine sichtbare Feuchtestelle allein belegt keine Schadensursache. Wer diese Punkte konsequent trennt, schafft eine belastbare Grundlage 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Übergaben dokumentieren und Fehler vermeiden</a:t>
            </a:r>
          </a:p>
        </p:txBody>
      </p:sp>
      <p:sp>
        <p:nvSpPr>
          <p:cNvPr id="3" name="Content Placeholder 2"/>
          <p:cNvSpPr>
            <a:spLocks noGrp="1"/>
          </p:cNvSpPr>
          <p:nvPr>
            <p:ph idx="1"/>
          </p:nvPr>
        </p:nvSpPr>
        <p:spPr/>
        <p:txBody>
          <a:bodyPr/>
          <a:lstStyle/>
          <a:p>
            <a:pPr>
              <a:defRPr sz="1800"/>
            </a:pPr>
            <a:r>
              <a:t>ür die weitere Bearbeitung und kann Absprachen sowie zusätzliche Unterlagen besser koordinieren.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Dachsanierung in Essen: Reihenfolge von Bestandsaufnahme, Statik und Baurecht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