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essen/holzfassade-hinterlueftung-ebene/" TargetMode="External"/><Relationship Id="rId3" Type="http://schemas.openxmlformats.org/officeDocument/2006/relationships/hyperlink" Target="https://holzundhaus.github.io/1aholzbauessen/dateien/minimax-cbb6c58b1da7307c8fd0b58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Hinterlüftung hinter der Holzfassade: warum diese Ebene nicht fehlen darf · Erklärende Präsentation</a:t>
            </a:r>
          </a:p>
        </p:txBody>
      </p:sp>
      <p:sp>
        <p:nvSpPr>
          <p:cNvPr id="3" name="Content Placeholder 2"/>
          <p:cNvSpPr>
            <a:spLocks noGrp="1"/>
          </p:cNvSpPr>
          <p:nvPr>
            <p:ph idx="1"/>
          </p:nvPr>
        </p:nvSpPr>
        <p:spPr/>
        <p:txBody>
          <a:bodyPr/>
          <a:lstStyle/>
          <a:p>
            <a:r>
              <a:t>Überblick: Bei einer Holzfassade ist die sichtbare Holzschalung nur eine Ebene des gesamten Aufbaus. Entscheidend ist, dass Feuchte weder in der Konstruktion bleibt noch ungeplant in den Hohlraum gelangt. Dafür muss die Hinterlüftungsebene zwischen Wandkonstruktion und Holzschalung von Anfang an mitgedacht werden. Dieser Beitrag erläutert ihre Funktion, typische Folgen bei einer fehlenden Ausführung und die Anschlusspunkte, die bei Planung und Sanierung geprüft werden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Wofür die Hinterlüftungsebene benötigt wird</a:t>
            </a:r>
          </a:p>
        </p:txBody>
      </p:sp>
      <p:sp>
        <p:nvSpPr>
          <p:cNvPr id="3" name="Content Placeholder 2"/>
          <p:cNvSpPr>
            <a:spLocks noGrp="1"/>
          </p:cNvSpPr>
          <p:nvPr>
            <p:ph idx="1"/>
          </p:nvPr>
        </p:nvSpPr>
        <p:spPr/>
        <p:txBody>
          <a:bodyPr/>
          <a:lstStyle/>
          <a:p>
            <a:pPr>
              <a:defRPr sz="1800"/>
            </a:pPr>
            <a:r>
              <a:t>Holz nimmt Feuchtigkeit aus Schlagregen, Tau und Raumfeuchte auf. Die Hinterlüftungsebene schafft einen durchlüfteten Hohlraum zwischen der eigentlichen Wandkonstruktion und der äußeren Holzschalung. Die bewegte Luft kann aufgenommene Feuchte aufnehmen und nach außen abführen. So entsteht ein definierter Weg aus dem Bauteil heraus und das Holz kann nach einem Regen wieder abtrocknen. Gleichzeitig bildet der Hohlraum einen Abstand zwischen Schalung und dahinterliegender Wand. Dadurch werden Temperaturunterschiede zwischen außen und innen abgemildert. Die Ebene wirkt damit nicht nur als zusätzlicher Konstruktionsschicht, sondern ist ein wesentl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Wofür die Hinterlüftungsebene benötigt wird</a:t>
            </a:r>
          </a:p>
        </p:txBody>
      </p:sp>
      <p:sp>
        <p:nvSpPr>
          <p:cNvPr id="3" name="Content Placeholder 2"/>
          <p:cNvSpPr>
            <a:spLocks noGrp="1"/>
          </p:cNvSpPr>
          <p:nvPr>
            <p:ph idx="1"/>
          </p:nvPr>
        </p:nvSpPr>
        <p:spPr/>
        <p:txBody>
          <a:bodyPr/>
          <a:lstStyle/>
          <a:p>
            <a:pPr>
              <a:defRPr sz="1800"/>
            </a:pPr>
            <a:r>
              <a:t>icher Bestandteil des Feuchte- und Temperatursystems einer Holzfassade.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eine bloße Erneuerung der Schalung nicht genügt</a:t>
            </a:r>
          </a:p>
        </p:txBody>
      </p:sp>
      <p:sp>
        <p:nvSpPr>
          <p:cNvPr id="3" name="Content Placeholder 2"/>
          <p:cNvSpPr>
            <a:spLocks noGrp="1"/>
          </p:cNvSpPr>
          <p:nvPr>
            <p:ph idx="1"/>
          </p:nvPr>
        </p:nvSpPr>
        <p:spPr/>
        <p:txBody>
          <a:bodyPr/>
          <a:lstStyle/>
          <a:p>
            <a:pPr>
              <a:defRPr sz="1800"/>
            </a:pPr>
            <a:r>
              <a:t>Wird bei einer Sanierung nur die äußere Holzschalung erneuert, während der Schichtenaufbau darunter unberücksichtigt bleibt, können bestehende Feuchteprobleme lediglich hinter die neue Oberfläche verlagert werden. Ohne Hinterlüftung fehlt der Feuchte ein geregelter Abtransportweg. Das kann zu stehender Nässe und einem erhöhten Schimmelrisiko führen. Holzprofile können verwittern, aufstehen oder sich verziehen. Außerdem können Befestigungen und Beschichtungen durch die fehlende Trennung zwischen Schalung und Wandkonstruktion beeinträchtigt werden. Optische Mängel lassen sich in solchen Fällen meist nicht allein durch eine neue Oberfläche beheb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eine bloße Erneuerung der Schalung nicht genügt</a:t>
            </a:r>
          </a:p>
        </p:txBody>
      </p:sp>
      <p:sp>
        <p:nvSpPr>
          <p:cNvPr id="3" name="Content Placeholder 2"/>
          <p:cNvSpPr>
            <a:spLocks noGrp="1"/>
          </p:cNvSpPr>
          <p:nvPr>
            <p:ph idx="1"/>
          </p:nvPr>
        </p:nvSpPr>
        <p:spPr/>
        <p:txBody>
          <a:bodyPr/>
          <a:lstStyle/>
          <a:p>
            <a:pPr>
              <a:defRPr sz="1800"/>
            </a:pPr>
            <a:r>
              <a:t>en. Deshalb gehört die Hinterlüftungsebene in die Planung der Fassadenerneuerung und nicht in die Ausführung als nachträglicher Detailpunkt.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an Dach, Sockel und Öffnungen</a:t>
            </a:r>
          </a:p>
        </p:txBody>
      </p:sp>
      <p:sp>
        <p:nvSpPr>
          <p:cNvPr id="3" name="Content Placeholder 2"/>
          <p:cNvSpPr>
            <a:spLocks noGrp="1"/>
          </p:cNvSpPr>
          <p:nvPr>
            <p:ph idx="1"/>
          </p:nvPr>
        </p:nvSpPr>
        <p:spPr/>
        <p:txBody>
          <a:bodyPr/>
          <a:lstStyle/>
          <a:p>
            <a:pPr>
              <a:defRPr sz="1800"/>
            </a:pPr>
            <a:r>
              <a:t>Eine Hinterlüftungsebene wirkt nur, wenn sie nicht durch geschlossene oder undichte Übergänge unterbrochen wird. Besonders wichtig sind die Ränder der Fassade. Am Sockel muss ein ausreichender Abstand zum Boden erhalten bleiben, damit Spritzwasser nicht in den Hohlraum gelangt. Am Dachanschluss ist eine durchgehende Luftzufuhr zu berücksichtigen. Auch Fenster- und Türlaibungen müssen so ausgebildet werden, dass der Luftstrom nicht abgeriegelt wird. Ecken und Stöße dürfen keine geschlossenen Kästen bilden, in denen sich Feuchte sammeln kann. Diese Anschlusspunkte sollten bereits in der Planung mit Dach, Sockel und Öffnungen abgestimmt werden.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an Dach, Sockel und Öffnungen</a:t>
            </a:r>
          </a:p>
        </p:txBody>
      </p:sp>
      <p:sp>
        <p:nvSpPr>
          <p:cNvPr id="3" name="Content Placeholder 2"/>
          <p:cNvSpPr>
            <a:spLocks noGrp="1"/>
          </p:cNvSpPr>
          <p:nvPr>
            <p:ph idx="1"/>
          </p:nvPr>
        </p:nvSpPr>
        <p:spPr/>
        <p:txBody>
          <a:bodyPr/>
          <a:lstStyle/>
          <a:p>
            <a:pPr>
              <a:defRPr sz="1800"/>
            </a:pPr>
            <a:r>
              <a:t>Bei einer Bestandssanierung ist besonders zu klären, ob die vorhandenen Übergänge diese Anforderungen bereits erfüllen.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bei der Planung des Bestands geklärt werden sollte</a:t>
            </a:r>
          </a:p>
        </p:txBody>
      </p:sp>
      <p:sp>
        <p:nvSpPr>
          <p:cNvPr id="3" name="Content Placeholder 2"/>
          <p:cNvSpPr>
            <a:spLocks noGrp="1"/>
          </p:cNvSpPr>
          <p:nvPr>
            <p:ph idx="1"/>
          </p:nvPr>
        </p:nvSpPr>
        <p:spPr/>
        <p:txBody>
          <a:bodyPr/>
          <a:lstStyle/>
          <a:p>
            <a:pPr>
              <a:defRPr sz="1800"/>
            </a:pPr>
            <a:r>
              <a:t>Vor einer Sanierung ist der vorhandene Schichtenaufbau zu untersuchen. Wichtig sind nicht nur die sichtbare Holzschalung, sondern auch der Zustand der Wandkonstruktion, vorhandene Feuchte- oder Schadensstellen sowie die Befestigungspunkte. Außerdem sollten die Anschlusshöhen am Sockel und am Dach bekannt sein. Wenn der Bestand keinen klaren Aufbau zeigt, ist das ein zentrales Thema für die weitere Planung. Eine Projektanfrage sollte deshalb neben dem gewünschten Erscheinungsbild Angaben zum vorhandenen Aufbau, zu den Anschlusshöhen und zu bekannten Feuchte- oder Schadensstellen enthalten. So kann der geplante Aufbau besser auf die tatsächlich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bei der Planung des Bestands geklärt werden sollte</a:t>
            </a:r>
          </a:p>
        </p:txBody>
      </p:sp>
      <p:sp>
        <p:nvSpPr>
          <p:cNvPr id="3" name="Content Placeholder 2"/>
          <p:cNvSpPr>
            <a:spLocks noGrp="1"/>
          </p:cNvSpPr>
          <p:nvPr>
            <p:ph idx="1"/>
          </p:nvPr>
        </p:nvSpPr>
        <p:spPr/>
        <p:txBody>
          <a:bodyPr/>
          <a:lstStyle/>
          <a:p>
            <a:pPr>
              <a:defRPr sz="1800"/>
            </a:pPr>
            <a:r>
              <a:t>en Gegebenheiten abgestimmt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Hinterlüftung als Teil der Gesamtplanung</a:t>
            </a:r>
          </a:p>
        </p:txBody>
      </p:sp>
      <p:sp>
        <p:nvSpPr>
          <p:cNvPr id="3" name="Content Placeholder 2"/>
          <p:cNvSpPr>
            <a:spLocks noGrp="1"/>
          </p:cNvSpPr>
          <p:nvPr>
            <p:ph idx="1"/>
          </p:nvPr>
        </p:nvSpPr>
        <p:spPr/>
        <p:txBody>
          <a:bodyPr/>
          <a:lstStyle/>
          <a:p>
            <a:pPr>
              <a:defRPr sz="1800"/>
            </a:pPr>
            <a:r>
              <a:t>Die Hinterlüftungsebene sollte zusammen mit der Profil- und Oberflächenwahl, der Befestigung sowie den Übergängen an Dach, Sockel und Öffnungen geplant werden. Eine getrennte Betrachtung einzelner Komponenten führt leicht dazu, dass Feuchtewege, Befestigungen und Hohlraumgeometrie nicht zusammenpassen. Ziel ist ein abgestimmter Schichtenaufbau, der die sichtbare Holzarchitektur mit einem kontrollierten Feuchtemanagement verbindet. Für die weitere fachliche Einordnung und die Vorbereitung einer Anfrage bietet die verknüpfte Holzfassade-Fachwerksanierung eine ergänzende Übersicht. Entscheidend bleibt, die Hinterlüftung rechtzeitig in die Gesamt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Hinterlüftung als Teil der Gesamtplanung</a:t>
            </a:r>
          </a:p>
        </p:txBody>
      </p:sp>
      <p:sp>
        <p:nvSpPr>
          <p:cNvPr id="3" name="Content Placeholder 2"/>
          <p:cNvSpPr>
            <a:spLocks noGrp="1"/>
          </p:cNvSpPr>
          <p:nvPr>
            <p:ph idx="1"/>
          </p:nvPr>
        </p:nvSpPr>
        <p:spPr/>
        <p:txBody>
          <a:bodyPr/>
          <a:lstStyle/>
          <a:p>
            <a:pPr>
              <a:defRPr sz="1800"/>
            </a:pPr>
            <a:r>
              <a:t>planung einzubeziehen, statt sie erst nach sichtbaren Schäden zu ergänzen.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Hinterlüftung hinter der Holzfassade: warum diese Ebene nicht fehlen darf</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